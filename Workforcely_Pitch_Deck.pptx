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CALEB UNIVERSITY TECH HUB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26211E"/>
                </a:solidFill>
                <a:latin typeface="Georgia"/>
              </a:defRPr>
            </a:pPr>
            <a:r>
              <a:t>Workforcely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6B5E55"/>
                </a:solidFill>
                <a:latin typeface="Georgia"/>
              </a:defRPr>
            </a:pPr>
            <a:r>
              <a:t>"Built for the People Who Manage People"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6211E"/>
                </a:solidFill>
                <a:latin typeface="Arial"/>
              </a:defRPr>
            </a:pPr>
            <a:r>
              <a:t>Compliance-First HR &amp; LMS Operations Platform  •  Live Laptop Demo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THE CORE FRICTION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The Burden of Managing People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 b="1">
                <a:solidFill>
                  <a:srgbClr val="26211E"/>
                </a:solidFill>
                <a:latin typeface="Georgia"/>
              </a:defRPr>
            </a:pPr>
            <a:r>
              <a:t>HR Management is Broken &amp; Manual</a:t>
            </a:r>
          </a:p>
          <a:p>
            <a:pPr>
              <a:lnSpc>
                <a:spcPct val="140000"/>
              </a:lnSpc>
              <a:defRPr sz="1500">
                <a:solidFill>
                  <a:srgbClr val="6B5E55"/>
                </a:solidFill>
                <a:latin typeface="Arial"/>
              </a:defRPr>
            </a:pPr>
            <a:r>
              <a:t>For millions of emerging market small businesses, employee coordination is a massive compliance and logistics liability. Administrative teams waste endless hours manually reconciling spreadsheets, chasing paper check-ins, and resolving internal requests over WhatsApp threads.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4937760" cy="128016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SPREADSHEET PAYROLL CHAOS</a:t>
            </a:r>
          </a:p>
          <a:p>
            <a:pPr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Reconciling progressive PAYE taxes and statutory 8% pension contributions by hand month-on-month leads to constant filing errors.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3200400"/>
            <a:ext cx="4937760" cy="128016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FRAGMENTED COORDINATION</a:t>
            </a:r>
          </a:p>
          <a:p>
            <a:pPr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Paper attendance registers, offline leave approvals, and lack of performance visibility drain 120+ administrative hours annually.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4754880"/>
            <a:ext cx="4937760" cy="128016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THE COST OF DISCONNECT</a:t>
            </a:r>
          </a:p>
          <a:p>
            <a:pPr>
              <a:spcBef>
                <a:spcPts val="4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Disconnected onboarding tasks, manual KPI scorecards, and offline training records prevent employee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A Single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800" b="1">
                <a:solidFill>
                  <a:srgbClr val="26211E"/>
                </a:solidFill>
                <a:latin typeface="Georgia"/>
              </a:defRPr>
            </a:pPr>
            <a:r>
              <a:t>Unified Lifecycle Operating System</a:t>
            </a:r>
          </a:p>
          <a:p>
            <a:pPr>
              <a:lnSpc>
                <a:spcPct val="140000"/>
              </a:lnSpc>
              <a:defRPr sz="1500">
                <a:solidFill>
                  <a:srgbClr val="6B5E55"/>
                </a:solidFill>
                <a:latin typeface="Arial"/>
              </a:defRPr>
            </a:pPr>
            <a:r>
              <a:t>Workforcely is a single, mobile-ready SaaS platform bringing order to SME staff operations. We handle the complete journey — from hiring pipelines to compliant Nigerian tax calculations, internal LMS course tracks, and real-time database AI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4937760" cy="201168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C25E3B"/>
                </a:solidFill>
                <a:latin typeface="Arial"/>
              </a:defRPr>
            </a:pPr>
            <a:r>
              <a:t>HR ADMIN COMMAND VIEW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300">
                <a:solidFill>
                  <a:srgbClr val="6B5E55"/>
                </a:solidFill>
                <a:latin typeface="Arial"/>
              </a:defRPr>
            </a:pPr>
            <a:r>
              <a:t>Build courses, oversee employee scorecards, coordinate payroll tax bands, approve leave logs, and query data conversational reports.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4023360"/>
            <a:ext cx="4937760" cy="201168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100" b="1">
                <a:solidFill>
                  <a:srgbClr val="2E5A44"/>
                </a:solidFill>
                <a:latin typeface="Arial"/>
              </a:defRPr>
            </a:pPr>
            <a:r>
              <a:t>EMPLOYEE SELF-SERVICE VIEW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300">
                <a:solidFill>
                  <a:srgbClr val="6B5E55"/>
                </a:solidFill>
                <a:latin typeface="Arial"/>
              </a:defRPr>
            </a:pPr>
            <a:r>
              <a:t>Register punch clocks, view personal leave balances, take quizzes, download official payslips, and self-update progress on goals.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HR ADMIN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Complete Administrative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1">
                <a:solidFill>
                  <a:srgbClr val="26211E"/>
                </a:solidFill>
                <a:latin typeface="Georgia"/>
              </a:defRPr>
            </a:pPr>
            <a:r>
              <a:t>The Command Center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Employee Directory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Profile dossier records, salary structures, and interactive org tree mapping.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Recruitment Kanban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Track applicants from Applied → Interview → Hired, auto-generating onboarding checklists.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Compliant PAYE Payroll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Automated Nigerian tax relief allowances calculations with overrides reason logging.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645920"/>
            <a:ext cx="6126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61264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4846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workforcely.com/dashboard/employees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177393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17739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17739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21808" y="2066544"/>
            <a:ext cx="1463040" cy="3675888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/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Dashboard</a:t>
            </a:r>
          </a:p>
          <a:p>
            <a:pPr>
              <a:spcAft>
                <a:spcPts val="1400"/>
              </a:spcAft>
              <a:defRPr sz="1100" b="1">
                <a:solidFill>
                  <a:srgbClr val="C25E3B"/>
                </a:solidFill>
                <a:latin typeface="Arial"/>
              </a:defRPr>
            </a:pPr>
            <a:r>
              <a:t>Employees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Attendance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Payroll</a:t>
            </a:r>
          </a:p>
          <a:p>
            <a:pPr>
              <a:spcAft>
                <a:spcPts val="1400"/>
              </a:spcAft>
              <a:defRPr sz="1100" b="0">
                <a:solidFill>
                  <a:srgbClr val="6B5E55"/>
                </a:solidFill>
                <a:latin typeface="Arial"/>
              </a:defRPr>
            </a:pPr>
            <a:r>
              <a:t>Recruitment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0" y="228600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/>
          <a:lstStyle/>
          <a:p>
            <a:pPr algn="ctr">
              <a:spcAft>
                <a:spcPts val="1200"/>
              </a:spcAft>
              <a:defRPr sz="1200" b="1">
                <a:solidFill>
                  <a:srgbClr val="26211E"/>
                </a:solidFill>
                <a:latin typeface="Arial"/>
              </a:defRPr>
            </a:pPr>
            <a:r>
              <a:t>Active Employees Directory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Chioma Obi   •   Engineering Lead   •   ₦1,200,000.00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Babajide Oyewole   •   Sales Manager   •   ₦990,000.00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Fatima Abubakar   •   Finance Specialist   •   ₦1,060,000.00</a:t>
            </a:r>
          </a:p>
          <a:p>
            <a:pPr>
              <a:spcAft>
                <a:spcPts val="1000"/>
              </a:spcAft>
              <a:defRPr sz="1100">
                <a:solidFill>
                  <a:srgbClr val="6B5E55"/>
                </a:solidFill>
                <a:latin typeface="Arial"/>
              </a:defRPr>
            </a:pPr>
            <a:r>
              <a:t>Olumide Sowore   •   HR Director   •   ₦880,000.00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LMS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Structured Learning &amp; Syllabuses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1">
                <a:solidFill>
                  <a:srgbClr val="26211E"/>
                </a:solidFill>
                <a:latin typeface="Georgia"/>
              </a:defRPr>
            </a:pPr>
            <a:r>
              <a:t>Continuous Growth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Course Syllabus Constructor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Managers write lessons, specify difficulty/duration, and embed video URLs.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Quiz Verification Checks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Auto-grading quiz attempts with strict passing scores to ensure comprehension.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Scorecard Integration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Completed courses directly feed and update the employee's performance scorecards.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645920"/>
            <a:ext cx="438912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438912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31089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workforcely.com/dashboard/training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177393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17739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17739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21808" y="2066544"/>
            <a:ext cx="1371600" cy="3675888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37160"/>
          <a:lstStyle/>
          <a:p>
            <a:pPr algn="ctr">
              <a:spcAft>
                <a:spcPts val="1000"/>
              </a:spcAft>
              <a:defRPr sz="1000" b="1">
                <a:latin typeface="Arial"/>
              </a:defRPr>
            </a:pPr>
            <a:r>
              <a:t>Retail CS Course</a:t>
            </a:r>
          </a:p>
          <a:p>
            <a:pPr>
              <a:spcAft>
                <a:spcPts val="1000"/>
              </a:spcAft>
              <a:defRPr sz="900">
                <a:solidFill>
                  <a:srgbClr val="2E5A44"/>
                </a:solidFill>
                <a:latin typeface="Arial"/>
              </a:defRPr>
            </a:pPr>
            <a:r>
              <a:t>[✔] 1. Intro to CS</a:t>
            </a:r>
          </a:p>
          <a:p>
            <a:pPr>
              <a:spcAft>
                <a:spcPts val="1000"/>
              </a:spcAft>
              <a:defRPr sz="900">
                <a:solidFill>
                  <a:srgbClr val="2E5A44"/>
                </a:solidFill>
                <a:latin typeface="Arial"/>
              </a:defRPr>
            </a:pPr>
            <a:r>
              <a:t>[✔] 2. Escalations</a:t>
            </a:r>
          </a:p>
          <a:p>
            <a:pPr>
              <a:spcAft>
                <a:spcPts val="1000"/>
              </a:spcAft>
              <a:defRPr sz="900">
                <a:solidFill>
                  <a:srgbClr val="C25E3B"/>
                </a:solidFill>
                <a:latin typeface="Arial"/>
              </a:defRPr>
            </a:pPr>
            <a:r>
              <a:t>[&gt;] 3. Market Ethos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194560"/>
            <a:ext cx="283464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spcAft>
                <a:spcPts val="800"/>
              </a:spcAft>
              <a:defRPr sz="1200" b="1">
                <a:latin typeface="Arial"/>
              </a:defRPr>
            </a:pPr>
            <a:r>
              <a:t>Lesson 3: Nigerian Market Ethos</a:t>
            </a:r>
          </a:p>
          <a:p>
            <a:pPr>
              <a:lnSpc>
                <a:spcPct val="130000"/>
              </a:lnSpc>
              <a:defRPr sz="1000">
                <a:solidFill>
                  <a:srgbClr val="6B5E55"/>
                </a:solidFill>
                <a:latin typeface="Arial"/>
              </a:defRPr>
            </a:pPr>
            <a:r>
              <a:t>Understanding consumer buying behaviors in Lagos/Abuja retail segments. Build trust via high-touch customer response validation loops...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3657600"/>
            <a:ext cx="2560320" cy="1371600"/>
          </a:xfrm>
          <a:prstGeom prst="rect">
            <a:avLst/>
          </a:prstGeom>
          <a:solidFill>
            <a:srgbClr val="F4EFEA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57200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[▶] Play customer_trust.mp4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2377440"/>
            <a:ext cx="1371600" cy="2011680"/>
          </a:xfrm>
          <a:prstGeom prst="rect">
            <a:avLst/>
          </a:prstGeom>
          <a:solidFill>
            <a:srgbClr val="FFFFFF"/>
          </a:solidFill>
          <a:ln w="50800">
            <a:solidFill>
              <a:srgbClr val="262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/>
          <a:lstStyle/>
          <a:p>
            <a:pPr algn="ctr">
              <a:defRPr sz="800" b="1">
                <a:solidFill>
                  <a:srgbClr val="6B5E55"/>
                </a:solidFill>
                <a:latin typeface="Arial"/>
              </a:defRPr>
            </a:pPr>
            <a:r>
              <a:t>CERTIFICATE</a:t>
            </a:r>
          </a:p>
          <a:p>
            <a:pPr algn="ctr">
              <a:spcBef>
                <a:spcPts val="800"/>
              </a:spcBef>
              <a:defRPr sz="1100" b="1">
                <a:solidFill>
                  <a:srgbClr val="C25E3B"/>
                </a:solidFill>
                <a:latin typeface="Georgia"/>
              </a:defRPr>
            </a:pPr>
            <a:r>
              <a:t>Fatima Abubakar</a:t>
            </a:r>
          </a:p>
          <a:p>
            <a:pPr algn="ctr">
              <a:spcBef>
                <a:spcPts val="400"/>
              </a:spcBef>
              <a:defRPr sz="600">
                <a:solidFill>
                  <a:srgbClr val="6B5E55"/>
                </a:solidFill>
                <a:latin typeface="Arial"/>
              </a:defRPr>
            </a:pPr>
            <a:r>
              <a:t>Completed Customer Service track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AI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Google Gemini AI Assistant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1">
                <a:solidFill>
                  <a:srgbClr val="26211E"/>
                </a:solidFill>
                <a:latin typeface="Georgia"/>
              </a:defRPr>
            </a:pPr>
            <a:r>
              <a:t>Conversational HR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Instant Plain Language Queries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Ask database questions directly: "Who is on leave next week?" or "Show total payroll cost".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No Report Generators Needed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System parses real-time database records and formats outputs in seconds, skipping complex UI builders.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Fuzzy Name Matching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Intelligently resolves incomplete employee names or dates, falling back safely to local matches when offline.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645920"/>
            <a:ext cx="6126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61264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48463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workforcely.com/dashboard/ai-assistant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177393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17739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17739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0" y="2286000"/>
            <a:ext cx="5394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000" b="1">
                <a:solidFill>
                  <a:srgbClr val="C25E3B"/>
                </a:solidFill>
                <a:latin typeface="Arial"/>
              </a:defRPr>
            </a:pPr>
            <a:r>
              <a:t>USER:</a:t>
            </a:r>
          </a:p>
          <a:p>
            <a:pPr>
              <a:spcAft>
                <a:spcPts val="1400"/>
              </a:spcAft>
              <a:defRPr sz="1300" b="1">
                <a:solidFill>
                  <a:srgbClr val="26211E"/>
                </a:solidFill>
                <a:latin typeface="Arial"/>
              </a:defRPr>
            </a:pPr>
            <a:r>
              <a:t>"Who is on leave next week?"</a:t>
            </a:r>
          </a:p>
          <a:p>
            <a:pPr>
              <a:defRPr sz="1000" b="1">
                <a:solidFill>
                  <a:srgbClr val="2E5A44"/>
                </a:solidFill>
                <a:latin typeface="Arial"/>
              </a:defRPr>
            </a:pPr>
            <a:r>
              <a:t>GEMINI WORKFORCE ASSISTANT:</a:t>
            </a:r>
          </a:p>
          <a:p>
            <a:pPr>
              <a:lnSpc>
                <a:spcPct val="130000"/>
              </a:lnSpc>
              <a:defRPr sz="1200">
                <a:solidFill>
                  <a:srgbClr val="6B5E55"/>
                </a:solidFill>
                <a:latin typeface="Arial"/>
              </a:defRPr>
            </a:pPr>
            <a:r>
              <a:t>"Based on the database, there are 2 employees scheduled for leave next week:</a:t>
            </a:r>
            <a:br/>
            <a:br/>
            <a:r>
              <a:t>• Fatima Abubakar (Finance) - Sick Leave (June 15 - June 19) [Pending]</a:t>
            </a:r>
            <a:br/>
            <a:r>
              <a:t>• Chijioke Nwachukwu (Ops) - Annual Leave (June 15 - June 25) [Approved]"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EMPLOYEE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Empowering Your Workforce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600" b="1">
                <a:solidFill>
                  <a:srgbClr val="26211E"/>
                </a:solidFill>
                <a:latin typeface="Georgia"/>
              </a:defRPr>
            </a:pPr>
            <a:r>
              <a:t>Employee Agency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Mobile Check-In Register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Punch clock widgets logging latitude/longitude location details on click.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Leave Request Forms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Directly access sick, casual, and annual balances, filing digital requests to HR inbox.</a:t>
            </a:r>
          </a:p>
          <a:p>
            <a:pPr>
              <a:spcBef>
                <a:spcPts val="1000"/>
              </a:spcBef>
              <a:defRPr sz="1400" b="1">
                <a:solidFill>
                  <a:srgbClr val="C25E3B"/>
                </a:solidFill>
                <a:latin typeface="Arial"/>
              </a:defRPr>
            </a:pPr>
            <a:r>
              <a:t>• Direct Payslip Printing</a:t>
            </a:r>
          </a:p>
          <a:p>
            <a:pPr>
              <a:lnSpc>
                <a:spcPct val="120000"/>
              </a:lnSpc>
              <a:spcBef>
                <a:spcPts val="200"/>
              </a:spcBef>
              <a:defRPr sz="1200">
                <a:solidFill>
                  <a:srgbClr val="6B5E55"/>
                </a:solidFill>
                <a:latin typeface="Arial"/>
              </a:defRPr>
            </a:pPr>
            <a:r>
              <a:t>View itemized breakdowns of earnings and compliant taxes, printing records locally.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645920"/>
            <a:ext cx="2926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303520" y="1645920"/>
            <a:ext cx="2926080" cy="411480"/>
          </a:xfrm>
          <a:prstGeom prst="rect">
            <a:avLst/>
          </a:prstGeom>
          <a:solidFill>
            <a:srgbClr val="F4EFEA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719072"/>
            <a:ext cx="1645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>
              <a:defRPr sz="900">
                <a:solidFill>
                  <a:srgbClr val="6B5E55"/>
                </a:solidFill>
                <a:latin typeface="Arial"/>
              </a:defRPr>
            </a:pPr>
            <a:r>
              <a:t>workforcely.com/portal/attendance</a:t>
            </a:r>
          </a:p>
        </p:txBody>
      </p:sp>
      <p:sp>
        <p:nvSpPr>
          <p:cNvPr id="8" name="Oval 7"/>
          <p:cNvSpPr/>
          <p:nvPr/>
        </p:nvSpPr>
        <p:spPr>
          <a:xfrm>
            <a:off x="5440680" y="177393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69280" y="177393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97880" y="177393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1945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400"/>
              </a:spcAft>
              <a:defRPr sz="1200" b="1">
                <a:latin typeface="Arial"/>
              </a:defRPr>
            </a:pPr>
            <a:r>
              <a:t>Clock Register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2743200"/>
            <a:ext cx="2286000" cy="1371600"/>
          </a:xfrm>
          <a:prstGeom prst="rect">
            <a:avLst/>
          </a:prstGeom>
          <a:solidFill>
            <a:srgbClr val="F4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defRPr sz="2200" b="1">
                <a:solidFill>
                  <a:srgbClr val="26211E"/>
                </a:solidFill>
                <a:latin typeface="Arial"/>
              </a:defRPr>
            </a:pPr>
            <a:r>
              <a:t>08:14:23 AM</a:t>
            </a:r>
          </a:p>
          <a:p>
            <a:pPr algn="ctr">
              <a:spcBef>
                <a:spcPts val="400"/>
              </a:spcBef>
              <a:defRPr sz="900">
                <a:solidFill>
                  <a:srgbClr val="6B5E55"/>
                </a:solidFill>
                <a:latin typeface="Arial"/>
              </a:defRPr>
            </a:pPr>
            <a:r>
              <a:t>Friday, June 12, 2026</a:t>
            </a:r>
            <a:br/>
          </a:p>
        </p:txBody>
      </p:sp>
      <p:sp>
        <p:nvSpPr>
          <p:cNvPr id="13" name="Oval 12"/>
          <p:cNvSpPr/>
          <p:nvPr/>
        </p:nvSpPr>
        <p:spPr>
          <a:xfrm>
            <a:off x="6355080" y="4389120"/>
            <a:ext cx="822960" cy="822960"/>
          </a:xfrm>
          <a:prstGeom prst="ellipse">
            <a:avLst/>
          </a:prstGeom>
          <a:solidFill>
            <a:srgbClr val="2E5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CLOCK</a:t>
            </a:r>
            <a:br/>
            <a:r>
              <a:t>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2377440"/>
            <a:ext cx="265176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spcAft>
                <a:spcPts val="1000"/>
              </a:spcAft>
              <a:defRPr sz="1100" b="1">
                <a:latin typeface="Arial"/>
              </a:defRPr>
            </a:pPr>
            <a:r>
              <a:t>Payslip Breakdown</a:t>
            </a:r>
          </a:p>
          <a:p>
            <a:pPr>
              <a:spcAft>
                <a:spcPts val="600"/>
              </a:spcAft>
              <a:defRPr sz="900">
                <a:solidFill>
                  <a:srgbClr val="6B5E55"/>
                </a:solidFill>
                <a:latin typeface="Arial"/>
              </a:defRPr>
            </a:pPr>
            <a:r>
              <a:t>Base Earnings: ₦450,000.00</a:t>
            </a:r>
          </a:p>
          <a:p>
            <a:pPr>
              <a:spcAft>
                <a:spcPts val="600"/>
              </a:spcAft>
              <a:defRPr sz="900">
                <a:solidFill>
                  <a:srgbClr val="6B5E55"/>
                </a:solidFill>
                <a:latin typeface="Arial"/>
              </a:defRPr>
            </a:pPr>
            <a:r>
              <a:t>Allowances: ₦200,000.00</a:t>
            </a:r>
          </a:p>
          <a:p>
            <a:pPr>
              <a:spcAft>
                <a:spcPts val="600"/>
              </a:spcAft>
              <a:defRPr sz="900">
                <a:solidFill>
                  <a:srgbClr val="A34E36"/>
                </a:solidFill>
                <a:latin typeface="Arial"/>
              </a:defRPr>
            </a:pPr>
            <a:r>
              <a:t>PAYE Tax: -₦102,500.00</a:t>
            </a:r>
          </a:p>
          <a:p>
            <a:pPr>
              <a:spcAft>
                <a:spcPts val="600"/>
              </a:spcAft>
              <a:defRPr sz="900">
                <a:solidFill>
                  <a:srgbClr val="A34E36"/>
                </a:solidFill>
                <a:latin typeface="Arial"/>
              </a:defRPr>
            </a:pPr>
            <a:r>
              <a:t>Pension: -₦52,000.00</a:t>
            </a:r>
          </a:p>
          <a:p>
            <a:pPr>
              <a:spcBef>
                <a:spcPts val="800"/>
              </a:spcBef>
              <a:defRPr sz="1100" b="1">
                <a:solidFill>
                  <a:srgbClr val="2E5A44"/>
                </a:solidFill>
                <a:latin typeface="Arial"/>
              </a:defRPr>
            </a:pPr>
            <a:r>
              <a:t>Net Disbursed: ₦495,500.00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C25E3B"/>
                </a:solidFill>
                <a:latin typeface="Arial"/>
              </a:defRPr>
            </a:pPr>
            <a:r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26211E"/>
                </a:solidFill>
                <a:latin typeface="Georgia"/>
              </a:defRPr>
            </a:pPr>
            <a:r>
              <a:t>Why Workforcely is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26211E"/>
                </a:solidFill>
                <a:latin typeface="Arial"/>
              </a:defRPr>
            </a:pPr>
            <a:r>
              <a:t>FULLY LOCAL SYNC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Offline-ready capabilities ensure data records sync instantly to local storage, keeping check-ins and edits moving without internet drops.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26211E"/>
                </a:solidFill>
                <a:latin typeface="Arial"/>
              </a:defRPr>
            </a:pPr>
            <a:r>
              <a:t>NIGERIAN TAXES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Consolidated Relief Allowance calculations progressive PAYE, and Pension Reform Act deductions built straight into system codes.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26211E"/>
                </a:solidFill>
                <a:latin typeface="Arial"/>
              </a:defRPr>
            </a:pPr>
            <a:r>
              <a:t>AI-POWERED INSIGHTS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Conversational Gemini reasoning over live database metrics saves teams from building complex reporting grids. Just ask in chat.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1828800"/>
            <a:ext cx="2468880" cy="4114800"/>
          </a:xfrm>
          <a:prstGeom prst="rect">
            <a:avLst/>
          </a:prstGeom>
          <a:solidFill>
            <a:srgbClr val="FAF7F2"/>
          </a:solidFill>
          <a:ln w="19050">
            <a:solidFill>
              <a:srgbClr val="EAE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2800" b="1">
                <a:solidFill>
                  <a:srgbClr val="C25E3B"/>
                </a:solidFill>
                <a:latin typeface="Georgia"/>
              </a:defRPr>
            </a:pPr>
            <a:r>
              <a:t>04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200" b="1">
                <a:solidFill>
                  <a:srgbClr val="26211E"/>
                </a:solidFill>
                <a:latin typeface="Arial"/>
              </a:defRPr>
            </a:pPr>
            <a:r>
              <a:t>END-TO-END SYNERGY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6B5E55"/>
                </a:solidFill>
                <a:latin typeface="Arial"/>
              </a:defRPr>
            </a:pPr>
            <a:r>
              <a:t> Hired recruitment status auto-creates onboarding records, and LMS training progress feeds directly into employee performance scorecard averages.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800" b="1">
                <a:solidFill>
                  <a:srgbClr val="26211E"/>
                </a:solidFill>
                <a:latin typeface="Georgia"/>
              </a:defRPr>
            </a:pPr>
            <a:r>
              <a:t>Workforcely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6B5E55"/>
                </a:solidFill>
                <a:latin typeface="Georgia"/>
              </a:defRPr>
            </a:pPr>
            <a:r>
              <a:t>"Built for the People Who Manage People"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400" b="1">
                <a:solidFill>
                  <a:srgbClr val="26211E"/>
                </a:solidFill>
                <a:latin typeface="Arial"/>
              </a:defRPr>
            </a:pPr>
            <a:r>
              <a:t>Launch Live Application Demo  •  Caleb Tech Hub Event</a:t>
            </a:r>
            <a:br/>
            <a:r>
              <a:t>Contact: pitch@workforcely.com  •  Website: www.workforcely.com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