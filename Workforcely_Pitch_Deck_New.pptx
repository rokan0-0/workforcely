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5935" cy="6492240"/>
          </a:xfrm>
          <a:prstGeom prst="rect">
            <a:avLst/>
          </a:prstGeom>
          <a:noFill/>
          <a:ln w="12700">
            <a:solidFill>
              <a:srgbClr val="EA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12700">
            <a:solidFill>
              <a:srgbClr val="EA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C25E3B"/>
                </a:solidFill>
                <a:latin typeface="Arial"/>
              </a:defRPr>
            </a:pPr>
            <a:r>
              <a:t>CALEB UNIVERSITY TECH HUB SHOWCASE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00" b="1">
                <a:solidFill>
                  <a:srgbClr val="1E1B18"/>
                </a:solidFill>
                <a:latin typeface="Georgia"/>
              </a:defRPr>
            </a:pPr>
            <a:r>
              <a:t>Workforcely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i="1">
                <a:solidFill>
                  <a:srgbClr val="6B5E55"/>
                </a:solidFill>
                <a:latin typeface="Georgia"/>
              </a:defRPr>
            </a:pPr>
            <a:r>
              <a:t>"Built for the People Who Manage People"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E1B18"/>
                </a:solidFill>
                <a:latin typeface="Arial"/>
              </a:defRPr>
            </a:pPr>
            <a:r>
              <a:t>Compliance-First HR &amp; LMS Operations Platform  •  Live Laptop Demo Ready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5935" cy="6492240"/>
          </a:xfrm>
          <a:prstGeom prst="rect">
            <a:avLst/>
          </a:prstGeom>
          <a:noFill/>
          <a:ln w="12700">
            <a:solidFill>
              <a:srgbClr val="EA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12700">
            <a:solidFill>
              <a:srgbClr val="EA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25E3B"/>
                </a:solidFill>
                <a:latin typeface="Arial"/>
              </a:defRPr>
            </a:pPr>
            <a:r>
              <a:t>THE CORE FRICTION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1B18"/>
                </a:solidFill>
                <a:latin typeface="Georgia"/>
              </a:defRPr>
            </a:pPr>
            <a:r>
              <a:t>The Burden of Managing People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3200" b="1">
                <a:solidFill>
                  <a:srgbClr val="1E1B18"/>
                </a:solidFill>
                <a:latin typeface="Georgia"/>
              </a:defRPr>
            </a:pPr>
            <a:r>
              <a:t>HR Teams Face Spreadsheet Chaos.</a:t>
            </a:r>
          </a:p>
          <a:p>
            <a:pPr>
              <a:lnSpc>
                <a:spcPct val="140000"/>
              </a:lnSpc>
              <a:defRPr sz="1500">
                <a:solidFill>
                  <a:srgbClr val="6B5E55"/>
                </a:solidFill>
                <a:latin typeface="Arial"/>
              </a:defRPr>
            </a:pPr>
            <a:r>
              <a:t>Every single day, SME managers spend hours tracking logs and manually calculating numbers. The friction drains productivity and introduces severe compliance risks.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737360"/>
            <a:ext cx="2377440" cy="1920240"/>
          </a:xfrm>
          <a:prstGeom prst="rect">
            <a:avLst/>
          </a:prstGeom>
          <a:solidFill>
            <a:srgbClr val="FAF7F2"/>
          </a:solidFill>
          <a:ln w="19050">
            <a:solidFill>
              <a:srgbClr val="EA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100" b="1">
                <a:solidFill>
                  <a:srgbClr val="C25E3B"/>
                </a:solidFill>
                <a:latin typeface="Arial"/>
              </a:defRPr>
            </a:pPr>
            <a:r>
              <a:t>MANUAL PAYROLL</a:t>
            </a:r>
          </a:p>
          <a:p>
            <a:pPr>
              <a:lnSpc>
                <a:spcPct val="110000"/>
              </a:lnSpc>
              <a:spcBef>
                <a:spcPts val="400"/>
              </a:spcBef>
              <a:defRPr sz="1200">
                <a:solidFill>
                  <a:srgbClr val="6B5E55"/>
                </a:solidFill>
                <a:latin typeface="Arial"/>
              </a:defRPr>
            </a:pPr>
            <a:r>
              <a:t>Progressive taxes and pension percentages calculated row-by-row.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37360"/>
            <a:ext cx="2377440" cy="73152"/>
          </a:xfrm>
          <a:prstGeom prst="rect">
            <a:avLst/>
          </a:prstGeom>
          <a:solidFill>
            <a:srgbClr val="C2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961120" y="1737360"/>
            <a:ext cx="2377440" cy="1920240"/>
          </a:xfrm>
          <a:prstGeom prst="rect">
            <a:avLst/>
          </a:prstGeom>
          <a:solidFill>
            <a:srgbClr val="FAF7F2"/>
          </a:solidFill>
          <a:ln w="19050">
            <a:solidFill>
              <a:srgbClr val="EA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100" b="1">
                <a:solidFill>
                  <a:srgbClr val="C25E3B"/>
                </a:solidFill>
                <a:latin typeface="Arial"/>
              </a:defRPr>
            </a:pPr>
            <a:r>
              <a:t>PAPER ATTENDANCE</a:t>
            </a:r>
          </a:p>
          <a:p>
            <a:pPr>
              <a:lnSpc>
                <a:spcPct val="110000"/>
              </a:lnSpc>
              <a:spcBef>
                <a:spcPts val="400"/>
              </a:spcBef>
              <a:defRPr sz="1200">
                <a:solidFill>
                  <a:srgbClr val="6B5E55"/>
                </a:solidFill>
                <a:latin typeface="Arial"/>
              </a:defRPr>
            </a:pPr>
            <a:r>
              <a:t>Physical registers and signature boards prone to buddy-punching.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61120" y="1737360"/>
            <a:ext cx="2377440" cy="73152"/>
          </a:xfrm>
          <a:prstGeom prst="rect">
            <a:avLst/>
          </a:prstGeom>
          <a:solidFill>
            <a:srgbClr val="C2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3840480"/>
            <a:ext cx="2377440" cy="1920240"/>
          </a:xfrm>
          <a:prstGeom prst="rect">
            <a:avLst/>
          </a:prstGeom>
          <a:solidFill>
            <a:srgbClr val="FAF7F2"/>
          </a:solidFill>
          <a:ln w="19050">
            <a:solidFill>
              <a:srgbClr val="EA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100" b="1">
                <a:solidFill>
                  <a:srgbClr val="C25E3B"/>
                </a:solidFill>
                <a:latin typeface="Arial"/>
              </a:defRPr>
            </a:pPr>
            <a:r>
              <a:t>WHATSAPP LEAVES</a:t>
            </a:r>
          </a:p>
          <a:p>
            <a:pPr>
              <a:lnSpc>
                <a:spcPct val="110000"/>
              </a:lnSpc>
              <a:spcBef>
                <a:spcPts val="400"/>
              </a:spcBef>
              <a:defRPr sz="1200">
                <a:solidFill>
                  <a:srgbClr val="6B5E55"/>
                </a:solidFill>
                <a:latin typeface="Arial"/>
              </a:defRPr>
            </a:pPr>
            <a:r>
              <a:t>Leaves requested via texts and loose messages without records.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840480"/>
            <a:ext cx="2377440" cy="73152"/>
          </a:xfrm>
          <a:prstGeom prst="rect">
            <a:avLst/>
          </a:prstGeom>
          <a:solidFill>
            <a:srgbClr val="C2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961120" y="3840480"/>
            <a:ext cx="2377440" cy="1920240"/>
          </a:xfrm>
          <a:prstGeom prst="rect">
            <a:avLst/>
          </a:prstGeom>
          <a:solidFill>
            <a:srgbClr val="FAF7F2"/>
          </a:solidFill>
          <a:ln w="19050">
            <a:solidFill>
              <a:srgbClr val="EA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100" b="1">
                <a:solidFill>
                  <a:srgbClr val="C25E3B"/>
                </a:solidFill>
                <a:latin typeface="Arial"/>
              </a:defRPr>
            </a:pPr>
            <a:r>
              <a:t>SCATTERED MEMOS</a:t>
            </a:r>
          </a:p>
          <a:p>
            <a:pPr>
              <a:lnSpc>
                <a:spcPct val="110000"/>
              </a:lnSpc>
              <a:spcBef>
                <a:spcPts val="400"/>
              </a:spcBef>
              <a:defRPr sz="1200">
                <a:solidFill>
                  <a:srgbClr val="6B5E55"/>
                </a:solidFill>
                <a:latin typeface="Arial"/>
              </a:defRPr>
            </a:pPr>
            <a:r>
              <a:t>Important bulletins lost in chat channels and email threads.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3840480"/>
            <a:ext cx="2377440" cy="73152"/>
          </a:xfrm>
          <a:prstGeom prst="rect">
            <a:avLst/>
          </a:prstGeom>
          <a:solidFill>
            <a:srgbClr val="C2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5935" cy="6492240"/>
          </a:xfrm>
          <a:prstGeom prst="rect">
            <a:avLst/>
          </a:prstGeom>
          <a:noFill/>
          <a:ln w="12700">
            <a:solidFill>
              <a:srgbClr val="EA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12700">
            <a:solidFill>
              <a:srgbClr val="EA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25E3B"/>
                </a:solidFill>
                <a:latin typeface="Arial"/>
              </a:defRPr>
            </a:pPr>
            <a: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1B18"/>
                </a:solidFill>
                <a:latin typeface="Georgia"/>
              </a:defRPr>
            </a:pPr>
            <a:r>
              <a:t>Full Lifecycle SME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3200" b="1">
                <a:solidFill>
                  <a:srgbClr val="1E1B18"/>
                </a:solidFill>
                <a:latin typeface="Georgia"/>
              </a:defRPr>
            </a:pPr>
            <a:r>
              <a:t>A Single Unified HR Platform.</a:t>
            </a:r>
          </a:p>
          <a:p>
            <a:pPr>
              <a:lnSpc>
                <a:spcPct val="140000"/>
              </a:lnSpc>
              <a:defRPr sz="1500">
                <a:solidFill>
                  <a:srgbClr val="6B5E55"/>
                </a:solidFill>
                <a:latin typeface="Arial"/>
              </a:defRPr>
            </a:pPr>
            <a:r>
              <a:t>A single software platform to coordinate your workforce from hire to performance evaluation. Built with two interconnected modules to serve managers and employees seamlessly.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737360"/>
            <a:ext cx="4937760" cy="2011680"/>
          </a:xfrm>
          <a:prstGeom prst="rect">
            <a:avLst/>
          </a:prstGeom>
          <a:solidFill>
            <a:srgbClr val="FAF7F2"/>
          </a:solidFill>
          <a:ln w="19050">
            <a:solidFill>
              <a:srgbClr val="EA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100" b="1">
                <a:solidFill>
                  <a:srgbClr val="C25E3B"/>
                </a:solidFill>
                <a:latin typeface="Arial"/>
              </a:defRPr>
            </a:pPr>
            <a:r>
              <a:t>HR ADMIN CONTROL VIEW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300">
                <a:solidFill>
                  <a:srgbClr val="6B5E55"/>
                </a:solidFill>
                <a:latin typeface="Arial"/>
              </a:defRPr>
            </a:pPr>
            <a:r>
              <a:t>Manage employee files, draft course curricula, evaluate scorecards, compute local statutory payroll runs, and broadcast targeted memos.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37360"/>
            <a:ext cx="4937760" cy="73152"/>
          </a:xfrm>
          <a:prstGeom prst="rect">
            <a:avLst/>
          </a:prstGeom>
          <a:solidFill>
            <a:srgbClr val="C2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4023360"/>
            <a:ext cx="4937760" cy="2011680"/>
          </a:xfrm>
          <a:prstGeom prst="rect">
            <a:avLst/>
          </a:prstGeom>
          <a:solidFill>
            <a:srgbClr val="FAF7F2"/>
          </a:solidFill>
          <a:ln w="19050">
            <a:solidFill>
              <a:srgbClr val="EA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100" b="1">
                <a:solidFill>
                  <a:srgbClr val="2E5A44"/>
                </a:solidFill>
                <a:latin typeface="Arial"/>
              </a:defRPr>
            </a:pPr>
            <a:r>
              <a:t>EMPLOYEE SELF-SERVICE VIEW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300">
                <a:solidFill>
                  <a:srgbClr val="6B5E55"/>
                </a:solidFill>
                <a:latin typeface="Arial"/>
              </a:defRPr>
            </a:pPr>
            <a:r>
              <a:t>Mobile clock registers, automated leave requests, private payslip download vaults, course players, and interactive goal scorecards.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4023360"/>
            <a:ext cx="4937760" cy="73152"/>
          </a:xfrm>
          <a:prstGeom prst="rect">
            <a:avLst/>
          </a:prstGeom>
          <a:solidFill>
            <a:srgbClr val="2E5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5935" cy="6492240"/>
          </a:xfrm>
          <a:prstGeom prst="rect">
            <a:avLst/>
          </a:prstGeom>
          <a:noFill/>
          <a:ln w="12700">
            <a:solidFill>
              <a:srgbClr val="EA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12700">
            <a:solidFill>
              <a:srgbClr val="EA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25E3B"/>
                </a:solidFill>
                <a:latin typeface="Arial"/>
              </a:defRPr>
            </a:pPr>
            <a:r>
              <a:t>HR ADMIN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1B18"/>
                </a:solidFill>
                <a:latin typeface="Georgia"/>
              </a:defRPr>
            </a:pPr>
            <a:r>
              <a:t>HR Admin Control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 b="1">
                <a:solidFill>
                  <a:srgbClr val="1E1B18"/>
                </a:solidFill>
                <a:latin typeface="Georgia"/>
              </a:defRPr>
            </a:pPr>
            <a:r>
              <a:t>HR Admin Control.</a:t>
            </a:r>
          </a:p>
          <a:p>
            <a:pPr>
              <a:spcBef>
                <a:spcPts val="1000"/>
              </a:spcBef>
              <a:defRPr sz="1400" b="1">
                <a:solidFill>
                  <a:srgbClr val="C25E3B"/>
                </a:solidFill>
                <a:latin typeface="Arial"/>
              </a:defRPr>
            </a:pPr>
            <a:r>
              <a:t>✓ Employee Directory</a:t>
            </a:r>
          </a:p>
          <a:p>
            <a:pPr>
              <a:lnSpc>
                <a:spcPct val="120000"/>
              </a:lnSpc>
              <a:spcBef>
                <a:spcPts val="200"/>
              </a:spcBef>
              <a:defRPr sz="1200">
                <a:solidFill>
                  <a:srgbClr val="6B5E55"/>
                </a:solidFill>
                <a:latin typeface="Arial"/>
              </a:defRPr>
            </a:pPr>
            <a:r>
              <a:t>Visual org charts and profile files showing department trees and salaries.</a:t>
            </a:r>
          </a:p>
          <a:p>
            <a:pPr>
              <a:spcBef>
                <a:spcPts val="1000"/>
              </a:spcBef>
              <a:defRPr sz="1400" b="1">
                <a:solidFill>
                  <a:srgbClr val="C25E3B"/>
                </a:solidFill>
                <a:latin typeface="Arial"/>
              </a:defRPr>
            </a:pPr>
            <a:r>
              <a:t>✓ Recruitment Kanban</a:t>
            </a:r>
          </a:p>
          <a:p>
            <a:pPr>
              <a:lnSpc>
                <a:spcPct val="120000"/>
              </a:lnSpc>
              <a:spcBef>
                <a:spcPts val="200"/>
              </a:spcBef>
              <a:defRPr sz="1200">
                <a:solidFill>
                  <a:srgbClr val="6B5E55"/>
                </a:solidFill>
                <a:latin typeface="Arial"/>
              </a:defRPr>
            </a:pPr>
            <a:r>
              <a:t>Track applicants from Applied → Hired, auto-generating onboarding tasks.</a:t>
            </a:r>
          </a:p>
          <a:p>
            <a:pPr>
              <a:spcBef>
                <a:spcPts val="1000"/>
              </a:spcBef>
              <a:defRPr sz="1400" b="1">
                <a:solidFill>
                  <a:srgbClr val="C25E3B"/>
                </a:solidFill>
                <a:latin typeface="Arial"/>
              </a:defRPr>
            </a:pPr>
            <a:r>
              <a:t>✓ Compliant PAYE Payroll</a:t>
            </a:r>
          </a:p>
          <a:p>
            <a:pPr>
              <a:lnSpc>
                <a:spcPct val="120000"/>
              </a:lnSpc>
              <a:spcBef>
                <a:spcPts val="200"/>
              </a:spcBef>
              <a:defRPr sz="1200">
                <a:solidFill>
                  <a:srgbClr val="6B5E55"/>
                </a:solidFill>
                <a:latin typeface="Arial"/>
              </a:defRPr>
            </a:pPr>
            <a:r>
              <a:t>Automated progressive local income tax calculation and 8% pension reform contributions.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0" y="1737360"/>
            <a:ext cx="612648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A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737360"/>
            <a:ext cx="6126480" cy="411480"/>
          </a:xfrm>
          <a:prstGeom prst="rect">
            <a:avLst/>
          </a:prstGeom>
          <a:solidFill>
            <a:srgbClr val="F4EFEA"/>
          </a:solidFill>
          <a:ln w="19050">
            <a:solidFill>
              <a:srgbClr val="EA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810512"/>
            <a:ext cx="48463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A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/>
          <a:lstStyle/>
          <a:p>
            <a:pPr algn="ctr">
              <a:defRPr sz="900">
                <a:solidFill>
                  <a:srgbClr val="6B5E55"/>
                </a:solidFill>
                <a:latin typeface="Arial"/>
              </a:defRPr>
            </a:pPr>
            <a:r>
              <a:t>workforcely.com/dashboard/employees</a:t>
            </a:r>
          </a:p>
        </p:txBody>
      </p:sp>
      <p:sp>
        <p:nvSpPr>
          <p:cNvPr id="10" name="Oval 9"/>
          <p:cNvSpPr/>
          <p:nvPr/>
        </p:nvSpPr>
        <p:spPr>
          <a:xfrm>
            <a:off x="5440680" y="1865376"/>
            <a:ext cx="128016" cy="128016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0" y="1865376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897880" y="1865376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21808" y="2157984"/>
            <a:ext cx="1463040" cy="3675888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82880"/>
          <a:lstStyle/>
          <a:p>
            <a:pPr algn="ctr"/>
          </a:p>
          <a:p>
            <a:pPr>
              <a:spcAft>
                <a:spcPts val="1400"/>
              </a:spcAft>
              <a:defRPr sz="1100" b="0">
                <a:solidFill>
                  <a:srgbClr val="6B5E55"/>
                </a:solidFill>
                <a:latin typeface="Arial"/>
              </a:defRPr>
            </a:pPr>
            <a:r>
              <a:t>Dashboard</a:t>
            </a:r>
          </a:p>
          <a:p>
            <a:pPr>
              <a:spcAft>
                <a:spcPts val="1400"/>
              </a:spcAft>
              <a:defRPr sz="1100" b="1">
                <a:solidFill>
                  <a:srgbClr val="C25E3B"/>
                </a:solidFill>
                <a:latin typeface="Arial"/>
              </a:defRPr>
            </a:pPr>
            <a:r>
              <a:t>Employees</a:t>
            </a:r>
          </a:p>
          <a:p>
            <a:pPr>
              <a:spcAft>
                <a:spcPts val="1400"/>
              </a:spcAft>
              <a:defRPr sz="1100" b="0">
                <a:solidFill>
                  <a:srgbClr val="6B5E55"/>
                </a:solidFill>
                <a:latin typeface="Arial"/>
              </a:defRPr>
            </a:pPr>
            <a:r>
              <a:t>Attendance</a:t>
            </a:r>
          </a:p>
          <a:p>
            <a:pPr>
              <a:spcAft>
                <a:spcPts val="1400"/>
              </a:spcAft>
              <a:defRPr sz="1100" b="0">
                <a:solidFill>
                  <a:srgbClr val="6B5E55"/>
                </a:solidFill>
                <a:latin typeface="Arial"/>
              </a:defRPr>
            </a:pPr>
            <a:r>
              <a:t>Payroll</a:t>
            </a:r>
          </a:p>
          <a:p>
            <a:pPr>
              <a:spcAft>
                <a:spcPts val="1400"/>
              </a:spcAft>
              <a:defRPr sz="1100" b="0">
                <a:solidFill>
                  <a:srgbClr val="6B5E55"/>
                </a:solidFill>
                <a:latin typeface="Arial"/>
              </a:defRPr>
            </a:pPr>
            <a:r>
              <a:t>Recruitment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0" y="2377440"/>
            <a:ext cx="42976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spcAft>
                <a:spcPts val="1200"/>
              </a:spcAft>
              <a:defRPr sz="1200" b="1">
                <a:solidFill>
                  <a:srgbClr val="1E1B18"/>
                </a:solidFill>
                <a:latin typeface="Arial"/>
              </a:defRPr>
            </a:pPr>
            <a:r>
              <a:t>Active Employees Directory</a:t>
            </a:r>
          </a:p>
          <a:p>
            <a:pPr>
              <a:spcAft>
                <a:spcPts val="1000"/>
              </a:spcAft>
              <a:defRPr sz="1100">
                <a:solidFill>
                  <a:srgbClr val="6B5E55"/>
                </a:solidFill>
                <a:latin typeface="Arial"/>
              </a:defRPr>
            </a:pPr>
            <a:r>
              <a:t>Chioma Obi   •   Engineering Lead   •   ₦850,000.00</a:t>
            </a:r>
          </a:p>
          <a:p>
            <a:pPr>
              <a:spcAft>
                <a:spcPts val="1000"/>
              </a:spcAft>
              <a:defRPr sz="1100">
                <a:solidFill>
                  <a:srgbClr val="6B5E55"/>
                </a:solidFill>
                <a:latin typeface="Arial"/>
              </a:defRPr>
            </a:pPr>
            <a:r>
              <a:t>Babajide Oyewole   •   Sales Manager   •   ₦700,000.00</a:t>
            </a:r>
          </a:p>
          <a:p>
            <a:pPr>
              <a:spcAft>
                <a:spcPts val="1000"/>
              </a:spcAft>
              <a:defRPr sz="1100">
                <a:solidFill>
                  <a:srgbClr val="6B5E55"/>
                </a:solidFill>
                <a:latin typeface="Arial"/>
              </a:defRPr>
            </a:pPr>
            <a:r>
              <a:t>Fatima Abubakar   •   Finance Specialist   •   ₦750,000.00</a:t>
            </a:r>
          </a:p>
          <a:p>
            <a:pPr>
              <a:spcAft>
                <a:spcPts val="1000"/>
              </a:spcAft>
              <a:defRPr sz="1100">
                <a:solidFill>
                  <a:srgbClr val="6B5E55"/>
                </a:solidFill>
                <a:latin typeface="Arial"/>
              </a:defRPr>
            </a:pPr>
            <a:r>
              <a:t>Olumide Sowore   •   HR Director   •   ₦600,000.00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5935" cy="6492240"/>
          </a:xfrm>
          <a:prstGeom prst="rect">
            <a:avLst/>
          </a:prstGeom>
          <a:noFill/>
          <a:ln w="12700">
            <a:solidFill>
              <a:srgbClr val="EA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12700">
            <a:solidFill>
              <a:srgbClr val="EA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25E3B"/>
                </a:solidFill>
                <a:latin typeface="Arial"/>
              </a:defRPr>
            </a:pPr>
            <a:r>
              <a:t>LMS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1B18"/>
                </a:solidFill>
                <a:latin typeface="Georgia"/>
              </a:defRPr>
            </a:pPr>
            <a:r>
              <a:t>Modular LMS &amp; Course Builder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 b="1">
                <a:solidFill>
                  <a:srgbClr val="1E1B18"/>
                </a:solidFill>
                <a:latin typeface="Georgia"/>
              </a:defRPr>
            </a:pPr>
            <a:r>
              <a:t>Modular LMS.</a:t>
            </a:r>
          </a:p>
          <a:p>
            <a:pPr>
              <a:spcBef>
                <a:spcPts val="1000"/>
              </a:spcBef>
              <a:defRPr sz="1400" b="1">
                <a:solidFill>
                  <a:srgbClr val="C25E3B"/>
                </a:solidFill>
                <a:latin typeface="Arial"/>
              </a:defRPr>
            </a:pPr>
            <a:r>
              <a:t>✓ Course Syllabus Builder</a:t>
            </a:r>
          </a:p>
          <a:p>
            <a:pPr>
              <a:lnSpc>
                <a:spcPct val="120000"/>
              </a:lnSpc>
              <a:spcBef>
                <a:spcPts val="200"/>
              </a:spcBef>
              <a:defRPr sz="1200">
                <a:solidFill>
                  <a:srgbClr val="6B5E55"/>
                </a:solidFill>
                <a:latin typeface="Arial"/>
              </a:defRPr>
            </a:pPr>
            <a:r>
              <a:t>Modular lessons supporting markdown format, locks, and YouTube video links.</a:t>
            </a:r>
          </a:p>
          <a:p>
            <a:pPr>
              <a:spcBef>
                <a:spcPts val="1000"/>
              </a:spcBef>
              <a:defRPr sz="1400" b="1">
                <a:solidFill>
                  <a:srgbClr val="C25E3B"/>
                </a:solidFill>
                <a:latin typeface="Arial"/>
              </a:defRPr>
            </a:pPr>
            <a:r>
              <a:t>✓ Attempts-Limited Quizzes</a:t>
            </a:r>
          </a:p>
          <a:p>
            <a:pPr>
              <a:lnSpc>
                <a:spcPct val="120000"/>
              </a:lnSpc>
              <a:spcBef>
                <a:spcPts val="200"/>
              </a:spcBef>
              <a:defRPr sz="1200">
                <a:solidFill>
                  <a:srgbClr val="6B5E55"/>
                </a:solidFill>
                <a:latin typeface="Arial"/>
              </a:defRPr>
            </a:pPr>
            <a:r>
              <a:t>Automated evaluation milestones to verify student comprehension on course completion.</a:t>
            </a:r>
          </a:p>
          <a:p>
            <a:pPr>
              <a:spcBef>
                <a:spcPts val="1000"/>
              </a:spcBef>
              <a:defRPr sz="1400" b="1">
                <a:solidFill>
                  <a:srgbClr val="C25E3B"/>
                </a:solidFill>
                <a:latin typeface="Arial"/>
              </a:defRPr>
            </a:pPr>
            <a:r>
              <a:t>✓ Performance Synergy</a:t>
            </a:r>
          </a:p>
          <a:p>
            <a:pPr>
              <a:lnSpc>
                <a:spcPct val="120000"/>
              </a:lnSpc>
              <a:spcBef>
                <a:spcPts val="200"/>
              </a:spcBef>
              <a:defRPr sz="1200">
                <a:solidFill>
                  <a:srgbClr val="6B5E55"/>
                </a:solidFill>
                <a:latin typeface="Arial"/>
              </a:defRPr>
            </a:pPr>
            <a:r>
              <a:t>Quiz scores and course progress update employee scorecards dynamically.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0" y="1737360"/>
            <a:ext cx="438912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A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737360"/>
            <a:ext cx="4389120" cy="411480"/>
          </a:xfrm>
          <a:prstGeom prst="rect">
            <a:avLst/>
          </a:prstGeom>
          <a:solidFill>
            <a:srgbClr val="F4EFEA"/>
          </a:solidFill>
          <a:ln w="19050">
            <a:solidFill>
              <a:srgbClr val="EA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810512"/>
            <a:ext cx="31089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A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/>
          <a:lstStyle/>
          <a:p>
            <a:pPr algn="ctr">
              <a:defRPr sz="900">
                <a:solidFill>
                  <a:srgbClr val="6B5E55"/>
                </a:solidFill>
                <a:latin typeface="Arial"/>
              </a:defRPr>
            </a:pPr>
            <a:r>
              <a:t>workforcely.com/dashboard/training</a:t>
            </a:r>
          </a:p>
        </p:txBody>
      </p:sp>
      <p:sp>
        <p:nvSpPr>
          <p:cNvPr id="10" name="Oval 9"/>
          <p:cNvSpPr/>
          <p:nvPr/>
        </p:nvSpPr>
        <p:spPr>
          <a:xfrm>
            <a:off x="5440680" y="1865376"/>
            <a:ext cx="128016" cy="128016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0" y="1865376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897880" y="1865376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21808" y="2157984"/>
            <a:ext cx="1371600" cy="3675888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137160"/>
          <a:lstStyle/>
          <a:p>
            <a:pPr algn="ctr">
              <a:spcAft>
                <a:spcPts val="1000"/>
              </a:spcAft>
              <a:defRPr sz="1000" b="1">
                <a:latin typeface="Arial"/>
              </a:defRPr>
            </a:pPr>
            <a:r>
              <a:t>Retail CS Course</a:t>
            </a:r>
          </a:p>
          <a:p>
            <a:pPr>
              <a:spcAft>
                <a:spcPts val="1000"/>
              </a:spcAft>
              <a:defRPr sz="900">
                <a:solidFill>
                  <a:srgbClr val="2E5A44"/>
                </a:solidFill>
                <a:latin typeface="Arial"/>
              </a:defRPr>
            </a:pPr>
            <a:r>
              <a:t>[✔] 1. Intro to CS</a:t>
            </a:r>
          </a:p>
          <a:p>
            <a:pPr>
              <a:spcAft>
                <a:spcPts val="1000"/>
              </a:spcAft>
              <a:defRPr sz="900">
                <a:solidFill>
                  <a:srgbClr val="2E5A44"/>
                </a:solidFill>
                <a:latin typeface="Arial"/>
              </a:defRPr>
            </a:pPr>
            <a:r>
              <a:t>[✔] 2. Escalations</a:t>
            </a:r>
          </a:p>
          <a:p>
            <a:pPr>
              <a:spcAft>
                <a:spcPts val="1000"/>
              </a:spcAft>
              <a:defRPr sz="900">
                <a:solidFill>
                  <a:srgbClr val="C25E3B"/>
                </a:solidFill>
                <a:latin typeface="Arial"/>
              </a:defRPr>
            </a:pPr>
            <a:r>
              <a:t>[&gt;] 3. Market Ethos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0" y="2286000"/>
            <a:ext cx="2834640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spcAft>
                <a:spcPts val="800"/>
              </a:spcAft>
              <a:defRPr sz="1200" b="1">
                <a:latin typeface="Arial"/>
              </a:defRPr>
            </a:pPr>
            <a:r>
              <a:t>Lesson 3: Nigerian Market Ethos</a:t>
            </a:r>
          </a:p>
          <a:p>
            <a:pPr>
              <a:lnSpc>
                <a:spcPct val="130000"/>
              </a:lnSpc>
              <a:defRPr sz="1000">
                <a:solidFill>
                  <a:srgbClr val="6B5E55"/>
                </a:solidFill>
                <a:latin typeface="Arial"/>
              </a:defRPr>
            </a:pPr>
            <a:r>
              <a:t>Understanding consumer buying behaviors in Lagos/Abuja retail segments. Build trust via high-touch customer response validation loops...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03720" y="3749040"/>
            <a:ext cx="2560320" cy="1371600"/>
          </a:xfrm>
          <a:prstGeom prst="rect">
            <a:avLst/>
          </a:prstGeom>
          <a:solidFill>
            <a:srgbClr val="F4EFEA"/>
          </a:solidFill>
          <a:ln w="12700">
            <a:solidFill>
              <a:srgbClr val="EA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457200"/>
          <a:lstStyle/>
          <a:p>
            <a:pPr algn="ctr">
              <a:defRPr sz="900">
                <a:solidFill>
                  <a:srgbClr val="6B5E55"/>
                </a:solidFill>
                <a:latin typeface="Arial"/>
              </a:defRPr>
            </a:pPr>
            <a:r>
              <a:t>[▶] Play customer_trust.mp4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66960" y="2468880"/>
            <a:ext cx="1371600" cy="2011680"/>
          </a:xfrm>
          <a:prstGeom prst="rect">
            <a:avLst/>
          </a:prstGeom>
          <a:solidFill>
            <a:srgbClr val="FFFFFF"/>
          </a:solidFill>
          <a:ln w="50800">
            <a:solidFill>
              <a:srgbClr val="1E1B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800" b="1">
                <a:solidFill>
                  <a:srgbClr val="6B5E55"/>
                </a:solidFill>
                <a:latin typeface="Arial"/>
              </a:defRPr>
            </a:pPr>
            <a:r>
              <a:t>CERTIFICATE</a:t>
            </a:r>
          </a:p>
          <a:p>
            <a:pPr algn="ctr">
              <a:spcBef>
                <a:spcPts val="800"/>
              </a:spcBef>
              <a:defRPr sz="1100" b="1">
                <a:solidFill>
                  <a:srgbClr val="C25E3B"/>
                </a:solidFill>
                <a:latin typeface="Georgia"/>
              </a:defRPr>
            </a:pPr>
            <a:r>
              <a:t>Fatima Abubakar</a:t>
            </a:r>
          </a:p>
          <a:p>
            <a:pPr algn="ctr">
              <a:spcBef>
                <a:spcPts val="400"/>
              </a:spcBef>
              <a:defRPr sz="600">
                <a:solidFill>
                  <a:srgbClr val="6B5E55"/>
                </a:solidFill>
                <a:latin typeface="Arial"/>
              </a:defRPr>
            </a:pPr>
            <a:r>
              <a:t>Completed Customer Service track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5935" cy="6492240"/>
          </a:xfrm>
          <a:prstGeom prst="rect">
            <a:avLst/>
          </a:prstGeom>
          <a:noFill/>
          <a:ln w="12700">
            <a:solidFill>
              <a:srgbClr val="EA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12700">
            <a:solidFill>
              <a:srgbClr val="EA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25E3B"/>
                </a:solidFill>
                <a:latin typeface="Arial"/>
              </a:defRPr>
            </a:pPr>
            <a:r>
              <a:t>AI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1B18"/>
                </a:solidFill>
                <a:latin typeface="Georgia"/>
              </a:defRPr>
            </a:pPr>
            <a:r>
              <a:t>Google Gemini AI Assistant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 b="1">
                <a:solidFill>
                  <a:srgbClr val="1E1B18"/>
                </a:solidFill>
                <a:latin typeface="Georgia"/>
              </a:defRPr>
            </a:pPr>
            <a:r>
              <a:t>Gemini Analytics.</a:t>
            </a:r>
          </a:p>
          <a:p>
            <a:pPr>
              <a:spcBef>
                <a:spcPts val="1000"/>
              </a:spcBef>
              <a:defRPr sz="1400" b="1">
                <a:solidFill>
                  <a:srgbClr val="C25E3B"/>
                </a:solidFill>
                <a:latin typeface="Arial"/>
              </a:defRPr>
            </a:pPr>
            <a:r>
              <a:t>✓ Natural Language Queries</a:t>
            </a:r>
          </a:p>
          <a:p>
            <a:pPr>
              <a:lnSpc>
                <a:spcPct val="120000"/>
              </a:lnSpc>
              <a:spcBef>
                <a:spcPts val="200"/>
              </a:spcBef>
              <a:defRPr sz="1200">
                <a:solidFill>
                  <a:srgbClr val="6B5E55"/>
                </a:solidFill>
                <a:latin typeface="Arial"/>
              </a:defRPr>
            </a:pPr>
            <a:r>
              <a:t>Ask database questions directly: "Who is on leave next week?" or "Show total payroll cost".</a:t>
            </a:r>
          </a:p>
          <a:p>
            <a:pPr>
              <a:spcBef>
                <a:spcPts val="1000"/>
              </a:spcBef>
              <a:defRPr sz="1400" b="1">
                <a:solidFill>
                  <a:srgbClr val="C25E3B"/>
                </a:solidFill>
                <a:latin typeface="Arial"/>
              </a:defRPr>
            </a:pPr>
            <a:r>
              <a:t>✓ No Static Report Builders</a:t>
            </a:r>
          </a:p>
          <a:p>
            <a:pPr>
              <a:lnSpc>
                <a:spcPct val="120000"/>
              </a:lnSpc>
              <a:spcBef>
                <a:spcPts val="200"/>
              </a:spcBef>
              <a:defRPr sz="1200">
                <a:solidFill>
                  <a:srgbClr val="6B5E55"/>
                </a:solidFill>
                <a:latin typeface="Arial"/>
              </a:defRPr>
            </a:pPr>
            <a:r>
              <a:t>System parses real-time database records and formats tabular outputs in seconds.</a:t>
            </a:r>
          </a:p>
          <a:p>
            <a:pPr>
              <a:spcBef>
                <a:spcPts val="1000"/>
              </a:spcBef>
              <a:defRPr sz="1400" b="1">
                <a:solidFill>
                  <a:srgbClr val="C25E3B"/>
                </a:solidFill>
                <a:latin typeface="Arial"/>
              </a:defRPr>
            </a:pPr>
            <a:r>
              <a:t>✓ Fuzzy Parameter Matching</a:t>
            </a:r>
          </a:p>
          <a:p>
            <a:pPr>
              <a:lnSpc>
                <a:spcPct val="120000"/>
              </a:lnSpc>
              <a:spcBef>
                <a:spcPts val="200"/>
              </a:spcBef>
              <a:defRPr sz="1200">
                <a:solidFill>
                  <a:srgbClr val="6B5E55"/>
                </a:solidFill>
                <a:latin typeface="Arial"/>
              </a:defRPr>
            </a:pPr>
            <a:r>
              <a:t>Intelligently resolves incomplete employee names or dates, falling back safely when offline.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0" y="1737360"/>
            <a:ext cx="612648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A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737360"/>
            <a:ext cx="6126480" cy="411480"/>
          </a:xfrm>
          <a:prstGeom prst="rect">
            <a:avLst/>
          </a:prstGeom>
          <a:solidFill>
            <a:srgbClr val="F4EFEA"/>
          </a:solidFill>
          <a:ln w="19050">
            <a:solidFill>
              <a:srgbClr val="EA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810512"/>
            <a:ext cx="48463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A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/>
          <a:lstStyle/>
          <a:p>
            <a:pPr algn="ctr">
              <a:defRPr sz="900">
                <a:solidFill>
                  <a:srgbClr val="6B5E55"/>
                </a:solidFill>
                <a:latin typeface="Arial"/>
              </a:defRPr>
            </a:pPr>
            <a:r>
              <a:t>workforcely.com/dashboard/ai-assistant</a:t>
            </a:r>
          </a:p>
        </p:txBody>
      </p:sp>
      <p:sp>
        <p:nvSpPr>
          <p:cNvPr id="10" name="Oval 9"/>
          <p:cNvSpPr/>
          <p:nvPr/>
        </p:nvSpPr>
        <p:spPr>
          <a:xfrm>
            <a:off x="5440680" y="1865376"/>
            <a:ext cx="128016" cy="128016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0" y="1865376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897880" y="1865376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0" y="2377440"/>
            <a:ext cx="53949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000" b="1">
                <a:solidFill>
                  <a:srgbClr val="C25E3B"/>
                </a:solidFill>
                <a:latin typeface="Arial"/>
              </a:defRPr>
            </a:pPr>
            <a:r>
              <a:t>USER:</a:t>
            </a:r>
          </a:p>
          <a:p>
            <a:pPr>
              <a:spcAft>
                <a:spcPts val="1400"/>
              </a:spcAft>
              <a:defRPr sz="1300" b="1">
                <a:solidFill>
                  <a:srgbClr val="1E1B18"/>
                </a:solidFill>
                <a:latin typeface="Arial"/>
              </a:defRPr>
            </a:pPr>
            <a:r>
              <a:t>"Who is on leave next week?"</a:t>
            </a:r>
          </a:p>
          <a:p>
            <a:pPr>
              <a:defRPr sz="1000" b="1">
                <a:solidFill>
                  <a:srgbClr val="2E5A44"/>
                </a:solidFill>
                <a:latin typeface="Arial"/>
              </a:defRPr>
            </a:pPr>
            <a:r>
              <a:t>GEMINI WORKFORCE ASSISTANT:</a:t>
            </a:r>
          </a:p>
          <a:p>
            <a:pPr>
              <a:lnSpc>
                <a:spcPct val="130000"/>
              </a:lnSpc>
              <a:defRPr sz="1200">
                <a:solidFill>
                  <a:srgbClr val="6B5E55"/>
                </a:solidFill>
                <a:latin typeface="Arial"/>
              </a:defRPr>
            </a:pPr>
            <a:r>
              <a:t>"Based on the database, there are 2 employees scheduled for leave next week:</a:t>
            </a:r>
            <a:br/>
            <a:br/>
            <a:r>
              <a:t>• Fatima Abubakar (Finance) - Sick Leave (June 15 - June 19) [Pending]</a:t>
            </a:r>
            <a:br/>
            <a:r>
              <a:t>• Chijioke Nwachukwu (Ops) - Annual Leave (June 15 - June 25) [Approved]"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5935" cy="6492240"/>
          </a:xfrm>
          <a:prstGeom prst="rect">
            <a:avLst/>
          </a:prstGeom>
          <a:noFill/>
          <a:ln w="12700">
            <a:solidFill>
              <a:srgbClr val="EA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12700">
            <a:solidFill>
              <a:srgbClr val="EA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25E3B"/>
                </a:solidFill>
                <a:latin typeface="Arial"/>
              </a:defRPr>
            </a:pPr>
            <a:r>
              <a:t>EMPLOYEE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1B18"/>
                </a:solidFill>
                <a:latin typeface="Georgia"/>
              </a:defRPr>
            </a:pPr>
            <a:r>
              <a:t>Self-Service Portal Agency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 b="1">
                <a:solidFill>
                  <a:srgbClr val="1E1B18"/>
                </a:solidFill>
                <a:latin typeface="Georgia"/>
              </a:defRPr>
            </a:pPr>
            <a:r>
              <a:t>Self-Service Portal.</a:t>
            </a:r>
          </a:p>
          <a:p>
            <a:pPr>
              <a:spcBef>
                <a:spcPts val="1000"/>
              </a:spcBef>
              <a:defRPr sz="1400" b="1">
                <a:solidFill>
                  <a:srgbClr val="C25E3B"/>
                </a:solidFill>
                <a:latin typeface="Arial"/>
              </a:defRPr>
            </a:pPr>
            <a:r>
              <a:t>✓ Mobile Clocking Widget</a:t>
            </a:r>
          </a:p>
          <a:p>
            <a:pPr>
              <a:lnSpc>
                <a:spcPct val="120000"/>
              </a:lnSpc>
              <a:spcBef>
                <a:spcPts val="200"/>
              </a:spcBef>
              <a:defRPr sz="1200">
                <a:solidFill>
                  <a:srgbClr val="6B5E55"/>
                </a:solidFill>
                <a:latin typeface="Arial"/>
              </a:defRPr>
            </a:pPr>
            <a:r>
              <a:t>Register check-ins and check-outs, verifying geolocation and timestamp parameters.</a:t>
            </a:r>
          </a:p>
          <a:p>
            <a:pPr>
              <a:spcBef>
                <a:spcPts val="1000"/>
              </a:spcBef>
              <a:defRPr sz="1400" b="1">
                <a:solidFill>
                  <a:srgbClr val="C25E3B"/>
                </a:solidFill>
                <a:latin typeface="Arial"/>
              </a:defRPr>
            </a:pPr>
            <a:r>
              <a:t>✓ Leave Balance dashboard</a:t>
            </a:r>
          </a:p>
          <a:p>
            <a:pPr>
              <a:lnSpc>
                <a:spcPct val="120000"/>
              </a:lnSpc>
              <a:spcBef>
                <a:spcPts val="200"/>
              </a:spcBef>
              <a:defRPr sz="1200">
                <a:solidFill>
                  <a:srgbClr val="6B5E55"/>
                </a:solidFill>
                <a:latin typeface="Arial"/>
              </a:defRPr>
            </a:pPr>
            <a:r>
              <a:t>Check remaining casual, annual, and sick balances, sending requests directly to HR inbox.</a:t>
            </a:r>
          </a:p>
          <a:p>
            <a:pPr>
              <a:spcBef>
                <a:spcPts val="1000"/>
              </a:spcBef>
              <a:defRPr sz="1400" b="1">
                <a:solidFill>
                  <a:srgbClr val="C25E3B"/>
                </a:solidFill>
                <a:latin typeface="Arial"/>
              </a:defRPr>
            </a:pPr>
            <a:r>
              <a:t>✓ Private Payslip Vault</a:t>
            </a:r>
          </a:p>
          <a:p>
            <a:pPr>
              <a:lnSpc>
                <a:spcPct val="120000"/>
              </a:lnSpc>
              <a:spcBef>
                <a:spcPts val="200"/>
              </a:spcBef>
              <a:defRPr sz="1200">
                <a:solidFill>
                  <a:srgbClr val="6B5E55"/>
                </a:solidFill>
                <a:latin typeface="Arial"/>
              </a:defRPr>
            </a:pPr>
            <a:r>
              <a:t>View monthly itemized breakdowns of earnings and tax reliefs, downloading payslips locally.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0" y="1737360"/>
            <a:ext cx="292608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A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737360"/>
            <a:ext cx="2926080" cy="411480"/>
          </a:xfrm>
          <a:prstGeom prst="rect">
            <a:avLst/>
          </a:prstGeom>
          <a:solidFill>
            <a:srgbClr val="F4EFEA"/>
          </a:solidFill>
          <a:ln w="19050">
            <a:solidFill>
              <a:srgbClr val="EA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810512"/>
            <a:ext cx="1645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A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/>
          <a:lstStyle/>
          <a:p>
            <a:pPr algn="ctr">
              <a:defRPr sz="900">
                <a:solidFill>
                  <a:srgbClr val="6B5E55"/>
                </a:solidFill>
                <a:latin typeface="Arial"/>
              </a:defRPr>
            </a:pPr>
            <a:r>
              <a:t>workforcely.com/portal/attendance</a:t>
            </a:r>
          </a:p>
        </p:txBody>
      </p:sp>
      <p:sp>
        <p:nvSpPr>
          <p:cNvPr id="10" name="Oval 9"/>
          <p:cNvSpPr/>
          <p:nvPr/>
        </p:nvSpPr>
        <p:spPr>
          <a:xfrm>
            <a:off x="5440680" y="1865376"/>
            <a:ext cx="128016" cy="128016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0" y="1865376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897880" y="1865376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0" y="2286000"/>
            <a:ext cx="25603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1400"/>
              </a:spcAft>
              <a:defRPr sz="1200" b="1">
                <a:latin typeface="Arial"/>
              </a:defRPr>
            </a:pPr>
            <a:r>
              <a:t>Clock Register Log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23560" y="2834640"/>
            <a:ext cx="2286000" cy="1371600"/>
          </a:xfrm>
          <a:prstGeom prst="rect">
            <a:avLst/>
          </a:prstGeom>
          <a:solidFill>
            <a:srgbClr val="F4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/>
          <a:lstStyle/>
          <a:p>
            <a:pPr algn="ctr">
              <a:defRPr sz="2200" b="1">
                <a:solidFill>
                  <a:srgbClr val="1E1B18"/>
                </a:solidFill>
                <a:latin typeface="Arial"/>
              </a:defRPr>
            </a:pPr>
            <a:r>
              <a:t>08:14:23 AM</a:t>
            </a:r>
          </a:p>
          <a:p>
            <a:pPr algn="ctr">
              <a:spcBef>
                <a:spcPts val="400"/>
              </a:spcBef>
              <a:defRPr sz="900">
                <a:solidFill>
                  <a:srgbClr val="6B5E55"/>
                </a:solidFill>
                <a:latin typeface="Arial"/>
              </a:defRPr>
            </a:pPr>
            <a:r>
              <a:t>Friday, June 12, 2026</a:t>
            </a:r>
            <a:br/>
          </a:p>
        </p:txBody>
      </p:sp>
      <p:sp>
        <p:nvSpPr>
          <p:cNvPr id="15" name="Oval 14"/>
          <p:cNvSpPr/>
          <p:nvPr/>
        </p:nvSpPr>
        <p:spPr>
          <a:xfrm>
            <a:off x="6355080" y="4480560"/>
            <a:ext cx="822960" cy="822960"/>
          </a:xfrm>
          <a:prstGeom prst="ellipse">
            <a:avLst/>
          </a:prstGeom>
          <a:solidFill>
            <a:srgbClr val="2E5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CLOCK</a:t>
            </a:r>
            <a:br/>
            <a:r>
              <a:t>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95360" y="2468880"/>
            <a:ext cx="265176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A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1000"/>
              </a:spcAft>
              <a:defRPr sz="1100" b="1">
                <a:latin typeface="Arial"/>
              </a:defRPr>
            </a:pPr>
            <a:r>
              <a:t>Payslip Breakdown</a:t>
            </a:r>
          </a:p>
          <a:p>
            <a:pPr>
              <a:spcAft>
                <a:spcPts val="600"/>
              </a:spcAft>
              <a:defRPr sz="900">
                <a:solidFill>
                  <a:srgbClr val="6B5E55"/>
                </a:solidFill>
                <a:latin typeface="Arial"/>
              </a:defRPr>
            </a:pPr>
            <a:r>
              <a:t>Base Earnings: ₦450,000.00</a:t>
            </a:r>
          </a:p>
          <a:p>
            <a:pPr>
              <a:spcAft>
                <a:spcPts val="600"/>
              </a:spcAft>
              <a:defRPr sz="900">
                <a:solidFill>
                  <a:srgbClr val="6B5E55"/>
                </a:solidFill>
                <a:latin typeface="Arial"/>
              </a:defRPr>
            </a:pPr>
            <a:r>
              <a:t>Allowances: ₦200,000.00</a:t>
            </a:r>
          </a:p>
          <a:p>
            <a:pPr>
              <a:spcAft>
                <a:spcPts val="600"/>
              </a:spcAft>
              <a:defRPr sz="900">
                <a:solidFill>
                  <a:srgbClr val="A34E36"/>
                </a:solidFill>
                <a:latin typeface="Arial"/>
              </a:defRPr>
            </a:pPr>
            <a:r>
              <a:t>PAYE Tax: -₦102,500.00</a:t>
            </a:r>
          </a:p>
          <a:p>
            <a:pPr>
              <a:spcAft>
                <a:spcPts val="600"/>
              </a:spcAft>
              <a:defRPr sz="900">
                <a:solidFill>
                  <a:srgbClr val="A34E36"/>
                </a:solidFill>
                <a:latin typeface="Arial"/>
              </a:defRPr>
            </a:pPr>
            <a:r>
              <a:t>Pension: -₦52,000.00</a:t>
            </a:r>
          </a:p>
          <a:p>
            <a:pPr>
              <a:spcBef>
                <a:spcPts val="800"/>
              </a:spcBef>
              <a:defRPr sz="1100" b="1">
                <a:solidFill>
                  <a:srgbClr val="2E5A44"/>
                </a:solidFill>
                <a:latin typeface="Arial"/>
              </a:defRPr>
            </a:pPr>
            <a:r>
              <a:t>Net Disbursed: ₦495,500.00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5935" cy="6492240"/>
          </a:xfrm>
          <a:prstGeom prst="rect">
            <a:avLst/>
          </a:prstGeom>
          <a:noFill/>
          <a:ln w="12700">
            <a:solidFill>
              <a:srgbClr val="EA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12700">
            <a:solidFill>
              <a:srgbClr val="EA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25E3B"/>
                </a:solidFill>
                <a:latin typeface="Arial"/>
              </a:defRPr>
            </a:pPr>
            <a:r>
              <a:t>VALUE PROPOSITION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1B18"/>
                </a:solidFill>
                <a:latin typeface="Georgia"/>
              </a:defRPr>
            </a:pPr>
            <a:r>
              <a:t>Why Workforcely is Different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2468880" cy="4114800"/>
          </a:xfrm>
          <a:prstGeom prst="rect">
            <a:avLst/>
          </a:prstGeom>
          <a:solidFill>
            <a:srgbClr val="FAF7F2"/>
          </a:solidFill>
          <a:ln w="19050">
            <a:solidFill>
              <a:srgbClr val="EA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2800" b="1">
                <a:solidFill>
                  <a:srgbClr val="C25E3B"/>
                </a:solidFill>
                <a:latin typeface="Georgia"/>
              </a:defRPr>
            </a:pPr>
            <a:r>
              <a:t>01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1200" b="1">
                <a:solidFill>
                  <a:srgbClr val="1E1B18"/>
                </a:solidFill>
                <a:latin typeface="Arial"/>
              </a:defRPr>
            </a:pPr>
            <a:r>
              <a:t>FULLY LOCAL SYNC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100">
                <a:solidFill>
                  <a:srgbClr val="6B5E55"/>
                </a:solidFill>
                <a:latin typeface="Arial"/>
              </a:defRPr>
            </a:pPr>
            <a:r>
              <a:t>Offline-ready sync capabilities ensure data records sync instantly to local storage, keeping check-ins and profiles updates moving without internet drops.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2468880" cy="73152"/>
          </a:xfrm>
          <a:prstGeom prst="rect">
            <a:avLst/>
          </a:prstGeom>
          <a:solidFill>
            <a:srgbClr val="C2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0" y="1828800"/>
            <a:ext cx="2468880" cy="4114800"/>
          </a:xfrm>
          <a:prstGeom prst="rect">
            <a:avLst/>
          </a:prstGeom>
          <a:solidFill>
            <a:srgbClr val="FAF7F2"/>
          </a:solidFill>
          <a:ln w="19050">
            <a:solidFill>
              <a:srgbClr val="EA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2800" b="1">
                <a:solidFill>
                  <a:srgbClr val="C25E3B"/>
                </a:solidFill>
                <a:latin typeface="Georgia"/>
              </a:defRPr>
            </a:pPr>
            <a:r>
              <a:t>02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1200" b="1">
                <a:solidFill>
                  <a:srgbClr val="1E1B18"/>
                </a:solidFill>
                <a:latin typeface="Arial"/>
              </a:defRPr>
            </a:pPr>
            <a:r>
              <a:t>NIGERIAN TAXES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100">
                <a:solidFill>
                  <a:srgbClr val="6B5E55"/>
                </a:solidFill>
                <a:latin typeface="Arial"/>
              </a:defRPr>
            </a:pPr>
            <a:r>
              <a:t>Consolidated Relief Allowance calculations, progressive PAYE tax bands, and Pension Reform Act deductions built straight into system codes.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828800"/>
            <a:ext cx="2468880" cy="73152"/>
          </a:xfrm>
          <a:prstGeom prst="rect">
            <a:avLst/>
          </a:prstGeom>
          <a:solidFill>
            <a:srgbClr val="C2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828800"/>
            <a:ext cx="2468880" cy="4114800"/>
          </a:xfrm>
          <a:prstGeom prst="rect">
            <a:avLst/>
          </a:prstGeom>
          <a:solidFill>
            <a:srgbClr val="FAF7F2"/>
          </a:solidFill>
          <a:ln w="19050">
            <a:solidFill>
              <a:srgbClr val="EA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2800" b="1">
                <a:solidFill>
                  <a:srgbClr val="C25E3B"/>
                </a:solidFill>
                <a:latin typeface="Georgia"/>
              </a:defRPr>
            </a:pPr>
            <a:r>
              <a:t>03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1200" b="1">
                <a:solidFill>
                  <a:srgbClr val="1E1B18"/>
                </a:solidFill>
                <a:latin typeface="Arial"/>
              </a:defRPr>
            </a:pPr>
            <a:r>
              <a:t>AI-POWERED INSIGHTS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100">
                <a:solidFill>
                  <a:srgbClr val="6B5E55"/>
                </a:solidFill>
                <a:latin typeface="Arial"/>
              </a:defRPr>
            </a:pPr>
            <a:r>
              <a:t>Conversational Gemini reasoning over live database metrics saves teams from building complex reporting grids. Just ask in plain chat.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828800"/>
            <a:ext cx="2468880" cy="73152"/>
          </a:xfrm>
          <a:prstGeom prst="rect">
            <a:avLst/>
          </a:prstGeom>
          <a:solidFill>
            <a:srgbClr val="C2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61120" y="1828800"/>
            <a:ext cx="2468880" cy="4114800"/>
          </a:xfrm>
          <a:prstGeom prst="rect">
            <a:avLst/>
          </a:prstGeom>
          <a:solidFill>
            <a:srgbClr val="FAF7F2"/>
          </a:solidFill>
          <a:ln w="19050">
            <a:solidFill>
              <a:srgbClr val="EA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2800" b="1">
                <a:solidFill>
                  <a:srgbClr val="C25E3B"/>
                </a:solidFill>
                <a:latin typeface="Georgia"/>
              </a:defRPr>
            </a:pPr>
            <a:r>
              <a:t>04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1200" b="1">
                <a:solidFill>
                  <a:srgbClr val="1E1B18"/>
                </a:solidFill>
                <a:latin typeface="Arial"/>
              </a:defRPr>
            </a:pPr>
            <a:r>
              <a:t>END-TO-END SYNERGY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100">
                <a:solidFill>
                  <a:srgbClr val="6B5E55"/>
                </a:solidFill>
                <a:latin typeface="Arial"/>
              </a:defRPr>
            </a:pPr>
            <a:r>
              <a:t>Hired recruitment candidate states automatically generate employee records and onboarding checklists in one flow.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0" y="1828800"/>
            <a:ext cx="2468880" cy="73152"/>
          </a:xfrm>
          <a:prstGeom prst="rect">
            <a:avLst/>
          </a:prstGeom>
          <a:solidFill>
            <a:srgbClr val="C2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5935" cy="6492240"/>
          </a:xfrm>
          <a:prstGeom prst="rect">
            <a:avLst/>
          </a:prstGeom>
          <a:noFill/>
          <a:ln w="12700">
            <a:solidFill>
              <a:srgbClr val="EA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12700">
            <a:solidFill>
              <a:srgbClr val="EA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00" b="1">
                <a:solidFill>
                  <a:srgbClr val="1E1B18"/>
                </a:solidFill>
                <a:latin typeface="Georgia"/>
              </a:defRPr>
            </a:pPr>
            <a:r>
              <a:t>Workforcely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i="1">
                <a:solidFill>
                  <a:srgbClr val="6B5E55"/>
                </a:solidFill>
                <a:latin typeface="Georgia"/>
              </a:defRPr>
            </a:pPr>
            <a:r>
              <a:t>"Built for the People Who Manage People"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  <a:defRPr sz="1400" b="1">
                <a:solidFill>
                  <a:srgbClr val="1E1B18"/>
                </a:solidFill>
                <a:latin typeface="Arial"/>
              </a:defRPr>
            </a:pPr>
            <a:r>
              <a:t>Launch Live Application Demo  •  Caleb Tech Hub Event</a:t>
            </a:r>
            <a:br/>
            <a:r>
              <a:t>Contact: pitch@workforcely.com  •  Website: www.workforcely.com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