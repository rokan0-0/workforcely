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Segoe UI"/>
              </a:defRPr>
            </a:pPr>
            <a:r>
              <a:t>Workforcely</a:t>
            </a:r>
          </a:p>
          <a:p>
            <a:pPr>
              <a:defRPr sz="2400">
                <a:solidFill>
                  <a:srgbClr val="6366F1"/>
                </a:solidFill>
                <a:latin typeface="Segoe UI"/>
              </a:defRPr>
            </a:pPr>
            <a:r>
              <a:t>The Operational Engine for African SMEs</a:t>
            </a:r>
          </a:p>
          <a:p>
            <a:br/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Consolidating the Employee Lifecycle, Localized Compliance &amp; AI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 of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Spreadsheet &amp; Compliance Nightmare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Managing staff is the #1 operational bottleneck for Nigerian SMEs:</a:t>
            </a:r>
          </a:p>
          <a:p>
            <a:br/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• Manual Tax Calculations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Calculating monthly progressive PAYE taxes and pension deductions (8% of basic, housing, transport) by hand leads to persistent compliance errors.</a:t>
            </a:r>
          </a:p>
          <a:p>
            <a:br/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• Fragmented Operations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Using WhatsApp groups for leaves, paper files for folders, and Excel for attendance leads to high friction and administrative overhead.</a:t>
            </a:r>
          </a:p>
          <a:p>
            <a:br/>
            <a:pPr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• Audit Fine Risks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  Failing audits due to poor record-keeping triggers steep government penalties that threaten small business survival.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F46E5"/>
                </a:solidFill>
                <a:latin typeface="Segoe UI"/>
              </a:defRPr>
            </a:pPr>
            <a:r>
              <a:t>THE COST OF INEFFICIENCY</a:t>
            </a:r>
          </a:p>
          <a:p>
            <a:br/>
            <a:pPr>
              <a:defRPr sz="5400" b="1">
                <a:solidFill>
                  <a:srgbClr val="EF4444"/>
                </a:solidFill>
                <a:latin typeface="Segoe UI"/>
              </a:defRPr>
            </a:pPr>
            <a:r>
              <a:t>15 Days</a:t>
            </a:r>
          </a:p>
          <a:p>
            <a:pPr>
              <a:defRPr sz="1400">
                <a:solidFill>
                  <a:srgbClr val="0F172A"/>
                </a:solidFill>
                <a:latin typeface="Segoe UI"/>
              </a:defRPr>
            </a:pPr>
            <a:r>
              <a:t>Wasted annually by a typical SME owner on HR paperwork &amp; manual calculations.</a:t>
            </a:r>
          </a:p>
          <a:p>
            <a:br/>
            <a:pPr>
              <a:defRPr sz="3600" b="1">
                <a:solidFill>
                  <a:srgbClr val="0F172A"/>
                </a:solidFill>
                <a:latin typeface="Segoe UI"/>
              </a:defRPr>
            </a:pPr>
            <a:r>
              <a:t>39 Million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Micro &amp; small businesses in Nigeria facing these exact operational bottlenecks.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Introducing Workforcely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An all-in-one operational engine designed specifically for growing retail, fintech, and service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377440"/>
            <a:ext cx="7315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Employee Lifecycle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Manages the entire staff journey. From candidate tracking, automatic profile instantiation, onboarding checklists, leaves, to performance calibration scorecards.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210312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0016" y="2377440"/>
            <a:ext cx="731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26517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Localized Compliance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Calculates progressive Nigerian PAYE income tax, standard 8% pension deductions, and allows flexible HR overrides (bonuses, deductions) with mandatory reason-logging.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103120"/>
            <a:ext cx="3328416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94192" y="2377440"/>
            <a:ext cx="731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2651760"/>
            <a:ext cx="29626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AI-Powered Operations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Integrates Google Gemini to query organization-wide data (leaves, payroll totals, attendance) or private self-service data via conversational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EMPLOYEE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Self-Service, Attendance &amp; Automated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Empowering employees with self-service utility: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Mobile Punch Clock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Employees clock in/out directly from their dashboard. Tracks check-in times and feeds automatically into performance scorecards.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Compliance Payslips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Instant breakdowns of Basic, Housing, and Transport allowances alongside automatic Nigerian PAYE tax and 8% pension deductions.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Leave Requests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Submits request reasons, logs dates, and displays real-time approval status with email notifications.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557784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30632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[SCREENSHOT PLACEHOLDER]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Save screenshot as: screenshot_employee.png</a:t>
            </a:r>
            <a:br/>
            <a:r>
              <a:t>(Fatima's employee dashboard or payslip page)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HR ADMIN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Streamlining Recruitment &amp; 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57784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[SCREENSHOT PLACEHOLDER]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Save screenshot as: screenshot_recruitment.png</a:t>
            </a:r>
            <a:br/>
            <a:r>
              <a:t>(Applicant Kanban board or onboarding checklists)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From candidate sourcing to day-one readiness: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Visual Kanban Board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Drag candidates seamlessly through pipeline stages: Applied → Shortlisted → Interview → Offer → Hired/Rejected.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Auto-Profile Generation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Moving a candidate to 'Hired' instantly instantiates their employee record, sets up login credentials, and drafts onboarding tasks.</a:t>
            </a:r>
          </a:p>
          <a:p>
            <a:br/>
            <a:pPr>
              <a:defRPr sz="1400" b="1">
                <a:solidFill>
                  <a:srgbClr val="4F46E5"/>
                </a:solidFill>
                <a:latin typeface="Segoe UI"/>
              </a:defRPr>
            </a:pPr>
            <a:r>
              <a:t>• Checklist Tracking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Interactive checklists (signed contract, ID capture, account setup) updated by employee and audited by HR in real-time.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SECRET SAUCE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AI HR Assistant: Instant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Conversational data access powered by Google Gemini:</a:t>
            </a:r>
          </a:p>
          <a:p>
            <a:br/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• Natural Language Queries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Admins ask plain English questions: 'Who is on leave next week?' or 'Total payroll cost this month' instead of exporting CSVs.</a:t>
            </a:r>
          </a:p>
          <a:p>
            <a:br/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• Context-Aware Logic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Gemini interprets request context, queries our relational tables, and returns clean, markdown-formatted tables or summaries.</a:t>
            </a:r>
          </a:p>
          <a:p>
            <a:br/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• Strict Data Scoping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Self-service portal is sandboxed to the employee's personal files. Employees can only ask about their own leaves, checklists, or payslips.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5577840" cy="4114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30632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r>
              <a:t>[SCREENSHOT PLACEHOLDER]</a:t>
            </a:r>
          </a:p>
          <a:p>
            <a:pPr algn="ctr">
              <a:defRPr sz="900">
                <a:solidFill>
                  <a:srgbClr val="64748B"/>
                </a:solidFill>
                <a:latin typeface="Segoe UI"/>
              </a:defRPr>
            </a:pPr>
            <a:r>
              <a:t>Save screenshot as: screenshot_ai.png</a:t>
            </a:r>
            <a:br/>
            <a:r>
              <a:t>(AI assistant view with query: 'Who is on leave next week?')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 Massive Target Market in West Africa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Capturing the operational software shift in emerging market small businesses.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4F46E5"/>
                </a:solidFill>
                <a:latin typeface="Segoe UI"/>
              </a:defRPr>
            </a:pPr>
            <a:br/>
            <a:r>
              <a:t>39M+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Nigerian SMEs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Micro, small, and medium businesses represent 96% of active businesses and 84% of employment in Nigeria, yet 90% run on spreadsheets or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4F46E5"/>
                </a:solidFill>
                <a:latin typeface="Segoe UI"/>
              </a:defRPr>
            </a:pPr>
            <a:br/>
            <a:r>
              <a:t>$35B+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Addressable Payroll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Estimated annual salary transaction volume processed by formal and semi-formal SMEs that need localized tax and pension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 b="1">
                <a:solidFill>
                  <a:srgbClr val="4F46E5"/>
                </a:solidFill>
                <a:latin typeface="Segoe UI"/>
              </a:defRPr>
            </a:pPr>
            <a:br/>
            <a:r>
              <a:t>10x</a:t>
            </a:r>
          </a:p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Administration Speed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Replacing fragmented setups (WhatsApp, local Excel files, paper calendars) with Workforcely drives operational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PRICING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Low-Friction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Segoe UI"/>
              </a:defRPr>
            </a:pPr>
            <a:r>
              <a:t>Virality-driven packaging designed to hook growing businesses early.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4748B"/>
                </a:solidFill>
                <a:latin typeface="Segoe UI"/>
              </a:defRPr>
            </a:pPr>
            <a:br/>
            <a:r>
              <a:t>FREE FOREVER</a:t>
            </a:r>
          </a:p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N0 / month</a:t>
            </a:r>
          </a:p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For teams up to 5 employees</a:t>
            </a:r>
            <a:br/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Punch clock &amp; attendance tracking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Basic employee directory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Self-service leave requests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Local text-based course builder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120640" cy="38404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4F46E5"/>
                </a:solidFill>
                <a:latin typeface="Segoe UI"/>
              </a:defRPr>
            </a:pPr>
            <a:br/>
            <a:r>
              <a:t>PREMIUM GROW</a:t>
            </a:r>
          </a:p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N1,200</a:t>
            </a:r>
          </a:p>
          <a:p>
            <a:pPr>
              <a:defRPr sz="1300" b="1">
                <a:solidFill>
                  <a:srgbClr val="6366F1"/>
                </a:solidFill>
                <a:latin typeface="Segoe UI"/>
              </a:defRPr>
            </a:pPr>
            <a:r>
              <a:t>Per employee / month</a:t>
            </a:r>
            <a:br/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Nigerian PAYE &amp; Pension computation engine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Gemini AI HR Assistant Integration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Recruitment pipelines &amp; automated onboarding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✓  Goal weight scorecards &amp; custom evaluations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Segoe UI"/>
              </a:defRPr>
            </a:pPr>
            <a:r>
              <a:t>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Future Roadmap &amp; Deep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286000"/>
            <a:ext cx="7315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1: Foundations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Current Milestone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Delivered localized payroll computations, leave approval portals, training LMS, applicant Kanban boards, and a context-aware Gemini AI assistant.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0016" y="2286000"/>
            <a:ext cx="7315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246888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2: Banking APIs</a:t>
            </a:r>
          </a:p>
          <a:p>
            <a:pPr>
              <a:defRPr sz="1100" b="1">
                <a:solidFill>
                  <a:srgbClr val="6366F1"/>
                </a:solidFill>
                <a:latin typeface="Segoe UI"/>
              </a:defRPr>
            </a:pPr>
            <a:r>
              <a:t>Next 6 Months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Integrate with local Nigerian bank APIs (e.g. Mono, Providus, Flutterwave) to support direct, one-click bulk salary payouts from the dashboard.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011680"/>
            <a:ext cx="3328416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2286000"/>
            <a:ext cx="7315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8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800" b="1">
                <a:solidFill>
                  <a:srgbClr val="0F172A"/>
                </a:solidFill>
                <a:latin typeface="Segoe UI"/>
              </a:defRPr>
            </a:pPr>
            <a:r>
              <a:t>Phase 3: Automated Filing</a:t>
            </a:r>
          </a:p>
          <a:p>
            <a:pPr>
              <a:defRPr sz="1100" b="1">
                <a:solidFill>
                  <a:srgbClr val="3B82F6"/>
                </a:solidFill>
                <a:latin typeface="Segoe UI"/>
              </a:defRPr>
            </a:pPr>
            <a:r>
              <a:t>Next 12 Months</a:t>
            </a:r>
          </a:p>
          <a:p>
            <a:br/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Direct integration with LIRS (Lagos State Internal Revenue Service) and PenCom portals to support direct automated filing of monthly taxes and deductions.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Let's Build the Future of SME Operations</a:t>
            </a:r>
          </a:p>
          <a:p>
            <a:pPr>
              <a:defRPr sz="1800">
                <a:solidFill>
                  <a:srgbClr val="6366F1"/>
                </a:solidFill>
                <a:latin typeface="Segoe UI"/>
              </a:defRPr>
            </a:pPr>
            <a:r>
              <a:t>Empowering emerging market businesses to stay compliant, scale, and thrive.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Live App Link: http://localhost:3000</a:t>
            </a:r>
            <a:br/>
            <a:r>
              <a:t>Demo Credentials: Admin (Olumide) / Employee (Fatima)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| Nigerian SME HR &amp; LMS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